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aec52d5e3f2d4e08" Type="http://schemas.openxmlformats.org/package/2006/relationships/metadata/core-properties" Target="docProps/core.xml"/><Relationship Id="Rb4a1826c0e6f44f4" Type="http://schemas.openxmlformats.org/officeDocument/2006/relationships/extended-properties" Target="docProps/app.xml"/><Relationship Id="Rc4db6f47c2a4487a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4c8848c6fa47b5"/>
  </p:sldMasterIdLst>
  <p:notesMasterIdLst>
    <p:notesMasterId xmlns:r="http://schemas.openxmlformats.org/officeDocument/2006/relationships" r:id="R99ee16e976ef4d87"/>
  </p:notesMasterIdLst>
  <p:sldIdLst>
    <p:sldId xmlns:r="http://schemas.openxmlformats.org/officeDocument/2006/relationships" id="256" r:id="R3ec2535e31224f32"/>
    <p:sldId xmlns:r="http://schemas.openxmlformats.org/officeDocument/2006/relationships" id="257" r:id="Raed58713584a4688"/>
    <p:sldId xmlns:r="http://schemas.openxmlformats.org/officeDocument/2006/relationships" id="258" r:id="R18d87813abcf4569"/>
    <p:sldId xmlns:r="http://schemas.openxmlformats.org/officeDocument/2006/relationships" id="259" r:id="R3c19b4a0c28649a3"/>
    <p:sldId xmlns:r="http://schemas.openxmlformats.org/officeDocument/2006/relationships" id="260" r:id="Re227c9e0a63445d4"/>
    <p:sldId xmlns:r="http://schemas.openxmlformats.org/officeDocument/2006/relationships" id="261" r:id="R48bbbebd94704401"/>
    <p:sldId xmlns:r="http://schemas.openxmlformats.org/officeDocument/2006/relationships" id="262" r:id="Refab7f378e1d4876"/>
    <p:sldId xmlns:r="http://schemas.openxmlformats.org/officeDocument/2006/relationships" id="263" r:id="Re951ea9fb5ae4f7a"/>
    <p:sldId xmlns:r="http://schemas.openxmlformats.org/officeDocument/2006/relationships" id="264" r:id="Re53d96abd6a146fc"/>
    <p:sldId xmlns:r="http://schemas.openxmlformats.org/officeDocument/2006/relationships" id="265" r:id="R81236a1c8bc64e1b"/>
    <p:sldId xmlns:r="http://schemas.openxmlformats.org/officeDocument/2006/relationships" id="266" r:id="R7173755a4c6b4340"/>
    <p:sldId xmlns:r="http://schemas.openxmlformats.org/officeDocument/2006/relationships" id="267" r:id="Rc4e46eda0d894007"/>
    <p:sldId xmlns:r="http://schemas.openxmlformats.org/officeDocument/2006/relationships" id="268" r:id="R28c7d297138a4af4"/>
    <p:sldId xmlns:r="http://schemas.openxmlformats.org/officeDocument/2006/relationships" id="269" r:id="R90bd809b642542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8d87813abcf4569" Type="http://schemas.openxmlformats.org/officeDocument/2006/relationships/slide" Target="slides/slide3.xml"/><Relationship Id="R28c7d297138a4af4" Type="http://schemas.openxmlformats.org/officeDocument/2006/relationships/slide" Target="slides/slide13.xml"/><Relationship Id="R3c19b4a0c28649a3" Type="http://schemas.openxmlformats.org/officeDocument/2006/relationships/slide" Target="slides/slide4.xml"/><Relationship Id="R3ec2535e31224f32" Type="http://schemas.openxmlformats.org/officeDocument/2006/relationships/slide" Target="slides/slide1.xml"/><Relationship Id="R454c8848c6fa47b5" Type="http://schemas.openxmlformats.org/officeDocument/2006/relationships/slideMaster" Target="slideMasters/slideMaster1.xml"/><Relationship Id="R48bbbebd94704401" Type="http://schemas.openxmlformats.org/officeDocument/2006/relationships/slide" Target="slides/slide6.xml"/><Relationship Id="R694403ba11464937" Type="http://schemas.openxmlformats.org/officeDocument/2006/relationships/tableStyles" Target="tableStyles.xml"/><Relationship Id="R7173755a4c6b4340" Type="http://schemas.openxmlformats.org/officeDocument/2006/relationships/slide" Target="slides/slide11.xml"/><Relationship Id="R81236a1c8bc64e1b" Type="http://schemas.openxmlformats.org/officeDocument/2006/relationships/slide" Target="slides/slide10.xml"/><Relationship Id="R90bd809b6425420c" Type="http://schemas.openxmlformats.org/officeDocument/2006/relationships/slide" Target="slides/slide14.xml"/><Relationship Id="R93f14cfad66047f0" Type="http://schemas.openxmlformats.org/officeDocument/2006/relationships/presProps" Target="presProps.xml"/><Relationship Id="R99ee16e976ef4d87" Type="http://schemas.openxmlformats.org/officeDocument/2006/relationships/notesMaster" Target="notesMasters/notesMaster1.xml"/><Relationship Id="Raed58713584a4688" Type="http://schemas.openxmlformats.org/officeDocument/2006/relationships/slide" Target="slides/slide2.xml"/><Relationship Id="Rc4e46eda0d894007" Type="http://schemas.openxmlformats.org/officeDocument/2006/relationships/slide" Target="slides/slide12.xml"/><Relationship Id="Re227c9e0a63445d4" Type="http://schemas.openxmlformats.org/officeDocument/2006/relationships/slide" Target="slides/slide5.xml"/><Relationship Id="Re53d96abd6a146fc" Type="http://schemas.openxmlformats.org/officeDocument/2006/relationships/slide" Target="slides/slide9.xml"/><Relationship Id="Re951ea9fb5ae4f7a" Type="http://schemas.openxmlformats.org/officeDocument/2006/relationships/slide" Target="slides/slide8.xml"/><Relationship Id="Refab7f378e1d4876" Type="http://schemas.openxmlformats.org/officeDocument/2006/relationships/slide" Target="slides/slide7.xml"/><Relationship Id="Rfd30ded8c0104ee2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b19b377a5721494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e1600ba3a064205" Type="http://schemas.openxmlformats.org/officeDocument/2006/relationships/slide" Target="../slides/slide1.xml"/><Relationship Id="Rc460a925432f4bb0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83546d18802449d7" Type="http://schemas.openxmlformats.org/officeDocument/2006/relationships/slide" Target="../slides/slide2.xml"/><Relationship Id="Ra65962a127ce4e3b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4c6e69916fb4881" Type="http://schemas.openxmlformats.org/officeDocument/2006/relationships/slide" Target="../slides/slide3.xml"/><Relationship Id="Rd179a45b7a6d4fb5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9f81cb99e78a4396" Type="http://schemas.openxmlformats.org/officeDocument/2006/relationships/notesMaster" Target="../notesMasters/notesMaster1.xml"/><Relationship Id="Rc9700cea9b8e4814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629b21c2f17a44b5" Type="http://schemas.openxmlformats.org/officeDocument/2006/relationships/notesMaster" Target="../notesMasters/notesMaster1.xml"/><Relationship Id="Rf11ef9f23a0c4159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bd31182abaab4e2f" Type="http://schemas.openxmlformats.org/officeDocument/2006/relationships/notesMaster" Target="../notesMasters/notesMaster1.xml"/><Relationship Id="Rd81a59af394e4a40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5a20a280900640a8" Type="http://schemas.openxmlformats.org/officeDocument/2006/relationships/notesMaster" Target="../notesMasters/notesMaster1.xml"/><Relationship Id="Rd5677a22223c42e6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27472751c02242cc" Type="http://schemas.openxmlformats.org/officeDocument/2006/relationships/notesMaster" Target="../notesMasters/notesMaster1.xml"/><Relationship Id="Reb52e179273a4eee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3979fb501b824709" Type="http://schemas.openxmlformats.org/officeDocument/2006/relationships/slide" Target="../slides/slide9.xml"/><Relationship Id="Rbfb2bc9e82e94115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572d46c808a24e52" Type="http://schemas.openxmlformats.org/officeDocument/2006/relationships/notesMaster" Target="../notesMasters/notesMaster1.xml"/><Relationship Id="Raf7cfa41473048c0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0164fdb4cdfc4fa0" Type="http://schemas.openxmlformats.org/officeDocument/2006/relationships/slide" Target="../slides/slide11.xml"/><Relationship Id="R50b3aa0d50cb47a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5bb37ff31c03473c" Type="http://schemas.openxmlformats.org/officeDocument/2006/relationships/notesMaster" Target="../notesMasters/notesMaster1.xml"/><Relationship Id="Raab5ade020a04ee8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352e32d201a04531" Type="http://schemas.openxmlformats.org/officeDocument/2006/relationships/notesMaster" Target="../notesMasters/notesMaster1.xml"/><Relationship Id="R51722fca30ff4d1a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118c027d981e4168" Type="http://schemas.openxmlformats.org/officeDocument/2006/relationships/slide" Target="../slides/slide14.xml"/><Relationship Id="Rd39d13889cca4a54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результаты проекта, results/validation/, версия 4 октября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результаты проекта, results/validation/, версия 4 октября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результаты проекта, results/validation/, версия 4 октября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 for release date: https://github.com/amazon-science/chronos-forecasting (News: 26 Nov 2024), checked 2026-10-04. Pretraining overlap unknown. Metrics: results/validation/forecast_by_horizon.csv.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результаты проекта, results/validation/, версия 4 октября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результаты проекта, results/validation/, версия 4 октября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результаты проекта, results/validation/, версия 4 октября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результаты проекта, results/validation/, версия 4 октября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результаты проекта, results/validation/, версия 4 октября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результаты проекта, results/validation/, версия 4 октября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результаты проекта, results/validation/, версия 4 октября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результаты проекта, results/validation/, версия 4 октября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результаты проекта, results/validation/, версия 4 октября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результаты проекта, results/validation/, версия 4 октября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ca36c4eb5df4447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f0776e292c984190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414d6240de804d18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d1800688fa464db4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c890a9dfbdf44608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6fcc7da711f14dc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2D10ACF-80F8-444F-9F7F-1113196E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F799A6-4434-4A8B-843B-C1C469877B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152C72C-D911-4015-A499-E730905475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377EB6B-34BA-47F9-8144-57F0E112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07F394C-1947-4A22-B29B-69E99A6999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31C38AC-AEA5-4CA2-8164-746DC60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93D2FDB-A51A-4C74-AEBB-6ED8EE8A16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AB9A80E-8F2D-4229-A67C-4A69C08CAA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E784920-B310-4AE7-BFD0-3ED50E23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BFD0DBC-280C-487F-B76C-5C75B75807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DBDA63-0079-41DE-A9B4-A82453ACA3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E570FFB-4941-4218-9BF4-ED2959626E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E143ACF-74D5-4A9E-A4CE-314001F4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C542DC2-0C15-46AD-BDE3-57415F116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DB308A-9131-4E6A-B85C-2D84347BF8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74fa480efaa4ab7" Type="http://schemas.openxmlformats.org/officeDocument/2006/relationships/slideLayout" Target="../slideLayouts/slideLayout3.xml"/><Relationship Id="R0a9ff505ec6e4be6" Type="http://schemas.openxmlformats.org/officeDocument/2006/relationships/slideLayout" Target="../slideLayouts/slideLayout4.xml"/><Relationship Id="R2130c9b844864a29" Type="http://schemas.openxmlformats.org/officeDocument/2006/relationships/slideLayout" Target="../slideLayouts/slideLayout6.xml"/><Relationship Id="R68ea8c5f04e64d8c" Type="http://schemas.openxmlformats.org/officeDocument/2006/relationships/slideLayout" Target="../slideLayouts/slideLayout1.xml"/><Relationship Id="Ra55a606c7ec245ff" Type="http://schemas.openxmlformats.org/officeDocument/2006/relationships/slideLayout" Target="../slideLayouts/slideLayout5.xml"/><Relationship Id="Re03cb46ca0084f28" Type="http://schemas.openxmlformats.org/officeDocument/2006/relationships/theme" Target="theme/theme2.xml"/><Relationship Id="Rf145ed65ed214fa8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ea8c5f04e64d8c"/>
    <p:sldLayoutId xmlns:r="http://schemas.openxmlformats.org/officeDocument/2006/relationships" id="2147483650" r:id="Rf145ed65ed214fa8"/>
    <p:sldLayoutId xmlns:r="http://schemas.openxmlformats.org/officeDocument/2006/relationships" id="2147483651" r:id="R074fa480efaa4ab7"/>
    <p:sldLayoutId xmlns:r="http://schemas.openxmlformats.org/officeDocument/2006/relationships" id="2147483652" r:id="R0a9ff505ec6e4be6"/>
    <p:sldLayoutId xmlns:r="http://schemas.openxmlformats.org/officeDocument/2006/relationships" id="2147483653" r:id="Ra55a606c7ec245ff"/>
    <p:sldLayoutId xmlns:r="http://schemas.openxmlformats.org/officeDocument/2006/relationships" id="2147483654" r:id="R2130c9b844864a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91d39f82849a4b15" Type="http://schemas.openxmlformats.org/officeDocument/2006/relationships/slideLayout" Target="../slideLayouts/slideLayout6.xml"/><Relationship Id="Rf9911c9283d84c3c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b1b58039b0b649da" Type="http://schemas.openxmlformats.org/officeDocument/2006/relationships/notesSlide" Target="../notesSlides/notesSlide2.xml"/><Relationship Id="Rd20a83fbc7e94759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b538be6a82734cd6" Type="http://schemas.openxmlformats.org/officeDocument/2006/relationships/notesSlide" Target="../notesSlides/notesSlide3.xml"/><Relationship Id="Rc2e1231dbe0e40e0" Type="http://schemas.openxmlformats.org/officeDocument/2006/relationships/chart" Target="charts/chart1.xml"/><Relationship Id="Rd54bca4609734df5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1b66cd3fd37d4733" Type="http://schemas.openxmlformats.org/officeDocument/2006/relationships/notesSlide" Target="../notesSlides/notesSlide4.xml"/><Relationship Id="Rc71d0313ea874d4d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a34555d980d24fdc" Type="http://schemas.openxmlformats.org/officeDocument/2006/relationships/notesSlide" Target="../notesSlides/notesSlide5.xml"/><Relationship Id="Rbec68581c0284462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1c710d3da642429e" Type="http://schemas.openxmlformats.org/officeDocument/2006/relationships/notesSlide" Target="../notesSlides/notesSlide6.xml"/><Relationship Id="Rbdbb82b161f94436" Type="http://schemas.openxmlformats.org/officeDocument/2006/relationships/slideLayout" Target="../slideLayouts/slideLayout6.xml"/><Relationship Id="Red5b7d3c01e34171" Type="http://schemas.openxmlformats.org/officeDocument/2006/relationships/chart" Target="charts/chart2.xml"/></Relationships>
</file>

<file path=ppt/slides/_rels/slide7.xml.rels><?xml version='1.0' encoding='UTF-8' standalone='yes'?>
<Relationships xmlns="http://schemas.openxmlformats.org/package/2006/relationships"><Relationship Id="R3caaee27a9ee43f3" Type="http://schemas.openxmlformats.org/officeDocument/2006/relationships/notesSlide" Target="../notesSlides/notesSlide7.xml"/><Relationship Id="Rb99a37fae35740eb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17c1620f67414db4" Type="http://schemas.openxmlformats.org/officeDocument/2006/relationships/slideLayout" Target="../slideLayouts/slideLayout6.xml"/><Relationship Id="R87f62186f46c409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1e68b8840c7d47dd" Type="http://schemas.openxmlformats.org/officeDocument/2006/relationships/slideLayout" Target="../slideLayouts/slideLayout6.xml"/><Relationship Id="R5bfed8eba9484618" Type="http://schemas.openxmlformats.org/officeDocument/2006/relationships/chart" Target="charts/chart3.xml"/><Relationship Id="R8721c1cfb278422f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0e98b93c56274260" Type="http://schemas.openxmlformats.org/officeDocument/2006/relationships/slideLayout" Target="../slideLayouts/slideLayout6.xml"/><Relationship Id="R351b00fe338c4b5f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66e82ed08fbf4e1f" Type="http://schemas.openxmlformats.org/officeDocument/2006/relationships/notesSlide" Target="../notesSlides/notesSlide11.xml"/><Relationship Id="Rb368b9730a6e4548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3cf4d040b9a54f44" Type="http://schemas.openxmlformats.org/officeDocument/2006/relationships/slideLayout" Target="../slideLayouts/slideLayout6.xml"/><Relationship Id="Rddc50865c03e4f20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d9c30b9fdbc44147" Type="http://schemas.openxmlformats.org/officeDocument/2006/relationships/notesSlide" Target="../notesSlides/notesSlide13.xml"/><Relationship Id="Rdd1d345ff4d742d6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81580ad9a64e4c34" Type="http://schemas.openxmlformats.org/officeDocument/2006/relationships/slideLayout" Target="../slideLayouts/slideLayout6.xml"/><Relationship Id="Rda033f344c9a4eda" Type="http://schemas.openxmlformats.org/officeDocument/2006/relationships/notesSlide" Target="../notesSlides/notesSlide14.xml"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Prophet (5 точек)</c:v>
          </c:tx>
          <c:spPr>
            <a:ln xmlns:a="http://schemas.openxmlformats.org/drawingml/2006/main" w="28575">
              <a:solidFill>
                <a:srgbClr val="00896B"/>
              </a:solidFill>
            </a:ln>
          </c:spPr>
          <c:marker>
            <c:symbol val="circle"/>
            <c:size val="7"/>
          </c:marker>
          <c:cat>
            <c:strRef>
              <c:f>'Chart Data'!$A$2:$A$5</c:f>
              <c:strCache>
                <c:ptCount val="4"/>
                <c:pt idx="0">
                  <c:v>1 месяц</c:v>
                </c:pt>
                <c:pt idx="1">
                  <c:v>3 месяца</c:v>
                </c:pt>
                <c:pt idx="2">
                  <c:v>6 месяцев</c:v>
                </c:pt>
                <c:pt idx="3">
                  <c:v>12 месяцев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1884.464823515</c:v>
                </c:pt>
                <c:pt idx="1">
                  <c:v>2261.9052159278</c:v>
                </c:pt>
                <c:pt idx="2">
                  <c:v>2757.7004663029</c:v>
                </c:pt>
                <c:pt idx="3">
                  <c:v>2904.2338124713</c:v>
                </c:pt>
              </c:numCache>
            </c:numRef>
          </c:val>
          <c:smooth val="0"/>
        </c:ser>
        <c:ser>
          <c:idx val="1"/>
          <c:order val="1"/>
          <c:tx>
            <c:v>Prophet default</c:v>
          </c:tx>
          <c:spPr>
            <a:ln xmlns:a="http://schemas.openxmlformats.org/drawingml/2006/main" w="28575">
              <a:solidFill>
                <a:srgbClr val="7BAC99"/>
              </a:solidFill>
            </a:ln>
          </c:spPr>
          <c:marker>
            <c:symbol val="circle"/>
            <c:size val="7"/>
          </c:marker>
          <c:cat>
            <c:strRef>
              <c:f>'Chart Data'!$C$2:$C$5</c:f>
              <c:strCache>
                <c:ptCount val="4"/>
                <c:pt idx="0">
                  <c:v>1 месяц</c:v>
                </c:pt>
                <c:pt idx="1">
                  <c:v>3 месяца</c:v>
                </c:pt>
                <c:pt idx="2">
                  <c:v>6 месяцев</c:v>
                </c:pt>
                <c:pt idx="3">
                  <c:v>12 месяцев</c:v>
                </c:pt>
              </c:strCache>
            </c:strRef>
          </c:cat>
          <c:val>
            <c:numRef>
              <c:f>'Chart Data'!$D$2:$D$5</c:f>
              <c:numCache>
                <c:formatCode>#,##0</c:formatCode>
                <c:ptCount val="4"/>
                <c:pt idx="0">
                  <c:v>1884.4303240055</c:v>
                </c:pt>
                <c:pt idx="1">
                  <c:v>2262.219524327</c:v>
                </c:pt>
                <c:pt idx="2">
                  <c:v>2758.153058406</c:v>
                </c:pt>
                <c:pt idx="3">
                  <c:v>2905.7989566194</c:v>
                </c:pt>
              </c:numCache>
            </c:numRef>
          </c:val>
          <c:smooth val="0"/>
        </c:ser>
        <c:ser>
          <c:idx val="2"/>
          <c:order val="2"/>
          <c:tx>
            <c:v>Затухающий тренд</c:v>
          </c:tx>
          <c:spPr>
            <a:ln xmlns:a="http://schemas.openxmlformats.org/drawingml/2006/main" w="28575">
              <a:solidFill>
                <a:srgbClr val="BB7C42"/>
              </a:solidFill>
            </a:ln>
          </c:spPr>
          <c:marker>
            <c:symbol val="circle"/>
            <c:size val="7"/>
          </c:marker>
          <c:cat>
            <c:strRef>
              <c:f>'Chart Data'!$E$2:$E$5</c:f>
              <c:strCache>
                <c:ptCount val="4"/>
                <c:pt idx="0">
                  <c:v>1 месяц</c:v>
                </c:pt>
                <c:pt idx="1">
                  <c:v>3 месяца</c:v>
                </c:pt>
                <c:pt idx="2">
                  <c:v>6 месяцев</c:v>
                </c:pt>
                <c:pt idx="3">
                  <c:v>12 месяцев</c:v>
                </c:pt>
              </c:strCache>
            </c:strRef>
          </c:cat>
          <c:val>
            <c:numRef>
              <c:f>'Chart Data'!$F$2:$F$5</c:f>
              <c:numCache>
                <c:formatCode>#,##0</c:formatCode>
                <c:ptCount val="4"/>
                <c:pt idx="0">
                  <c:v>2743.9232846853</c:v>
                </c:pt>
                <c:pt idx="1">
                  <c:v>3736.1563265991</c:v>
                </c:pt>
                <c:pt idx="2">
                  <c:v>3234.2025238602</c:v>
                </c:pt>
                <c:pt idx="3">
                  <c:v>1734.03884693</c:v>
                </c:pt>
              </c:numCache>
            </c:numRef>
          </c:val>
          <c:smooth val="0"/>
        </c:ser>
        <c:ser>
          <c:idx val="3"/>
          <c:order val="3"/>
          <c:tx>
            <c:v>Последнее значение</c:v>
          </c:tx>
          <c:spPr>
            <a:ln xmlns:a="http://schemas.openxmlformats.org/drawingml/2006/main" w="28575">
              <a:solidFill>
                <a:srgbClr val="586C93"/>
              </a:solidFill>
            </a:ln>
          </c:spPr>
          <c:marker>
            <c:symbol val="circle"/>
            <c:size val="7"/>
          </c:marker>
          <c:cat>
            <c:strRef>
              <c:f>'Chart Data'!$G$2:$G$5</c:f>
              <c:strCache>
                <c:ptCount val="4"/>
                <c:pt idx="0">
                  <c:v>1 месяц</c:v>
                </c:pt>
                <c:pt idx="1">
                  <c:v>3 месяца</c:v>
                </c:pt>
                <c:pt idx="2">
                  <c:v>6 месяцев</c:v>
                </c:pt>
                <c:pt idx="3">
                  <c:v>12 месяцев</c:v>
                </c:pt>
              </c:strCache>
            </c:strRef>
          </c:cat>
          <c:val>
            <c:numRef>
              <c:f>'Chart Data'!$H$2:$H$5</c:f>
              <c:numCache>
                <c:formatCode>#,##0</c:formatCode>
                <c:ptCount val="4"/>
                <c:pt idx="0">
                  <c:v>2620.0437677228</c:v>
                </c:pt>
                <c:pt idx="1">
                  <c:v>2858.8376511226</c:v>
                </c:pt>
                <c:pt idx="2">
                  <c:v>2962.1618106996</c:v>
                </c:pt>
                <c:pt idx="3">
                  <c:v>4700.7305981216</c:v>
                </c:pt>
              </c:numCache>
            </c:numRef>
          </c:val>
          <c:smooth val="0"/>
        </c:ser>
        <c:ser>
          <c:idx val="4"/>
          <c:order val="4"/>
          <c:tx>
            <c:v>Chronos-Bolt Tiny</c:v>
          </c:tx>
          <c:spPr>
            <a:ln xmlns:a="http://schemas.openxmlformats.org/drawingml/2006/main" w="28575">
              <a:solidFill>
                <a:srgbClr val="AF6D98"/>
              </a:solidFill>
            </a:ln>
          </c:spPr>
          <c:marker>
            <c:symbol val="circle"/>
            <c:size val="7"/>
          </c:marker>
          <c:cat>
            <c:strRef>
              <c:f>'Chart Data'!$I$2:$I$5</c:f>
              <c:strCache>
                <c:ptCount val="4"/>
                <c:pt idx="0">
                  <c:v>1 месяц</c:v>
                </c:pt>
                <c:pt idx="1">
                  <c:v>3 месяца</c:v>
                </c:pt>
                <c:pt idx="2">
                  <c:v>6 месяцев</c:v>
                </c:pt>
                <c:pt idx="3">
                  <c:v>12 месяцев</c:v>
                </c:pt>
              </c:strCache>
            </c:strRef>
          </c:cat>
          <c:val>
            <c:numRef>
              <c:f>'Chart Data'!$J$2:$J$5</c:f>
              <c:numCache>
                <c:formatCode>#,##0</c:formatCode>
                <c:ptCount val="4"/>
                <c:pt idx="0">
                  <c:v>2653.9628764178</c:v>
                </c:pt>
                <c:pt idx="1">
                  <c:v>3350.1198363625</c:v>
                </c:pt>
                <c:pt idx="2">
                  <c:v>4727.922969393</c:v>
                </c:pt>
                <c:pt idx="3">
                  <c:v>10743.0601476574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MAE, руб.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DejaVu Sans"/>
              <a:ea typeface="DejaVu Sans"/>
              <a:cs typeface="DejaVu Sans"/>
            </a:defRPr>
          </a:pPr>
        </a:p>
      </c:txPr>
    </c:legend>
    <c:plotVisOnly val="1"/>
  </c:chart>
  <c:externalData xmlns:r="http://schemas.openxmlformats.org/officeDocument/2006/relationships" r:id="rIdChartSnapshot1">
    <c:autoUpdate val="0"/>
  </c:externalData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Prophet (5 точек)</c:v>
          </c:tx>
          <c:spPr>
            <a:solidFill xmlns:a="http://schemas.openxmlformats.org/drawingml/2006/main">
              <a:srgbClr val="00896B"/>
            </a:solidFill>
          </c:spPr>
          <c:cat>
            <c:strRef>
              <c:f>'Chart Data'!$A$2:$A$5</c:f>
              <c:strCache>
                <c:ptCount val="4"/>
                <c:pt idx="0">
                  <c:v>Январь</c:v>
                </c:pt>
                <c:pt idx="1">
                  <c:v>Апрель</c:v>
                </c:pt>
                <c:pt idx="2">
                  <c:v>Июль</c:v>
                </c:pt>
                <c:pt idx="3">
                  <c:v>Октябрь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4490.2572586372</c:v>
                </c:pt>
                <c:pt idx="1">
                  <c:v>893.7384710897</c:v>
                </c:pt>
                <c:pt idx="2">
                  <c:v>1150.5008420844</c:v>
                </c:pt>
                <c:pt idx="3">
                  <c:v>998.1118051396</c:v>
                </c:pt>
              </c:numCache>
            </c:numRef>
          </c:val>
        </c:ser>
        <c:ser>
          <c:idx val="1"/>
          <c:order val="1"/>
          <c:tx>
            <c:v>Последнее значение</c:v>
          </c:tx>
          <c:spPr>
            <a:solidFill xmlns:a="http://schemas.openxmlformats.org/drawingml/2006/main">
              <a:srgbClr val="738AAD"/>
            </a:solidFill>
          </c:spPr>
          <c:cat>
            <c:strRef>
              <c:f>'Chart Data'!$C$2:$C$5</c:f>
              <c:strCache>
                <c:ptCount val="4"/>
                <c:pt idx="0">
                  <c:v>Январь</c:v>
                </c:pt>
                <c:pt idx="1">
                  <c:v>Апрель</c:v>
                </c:pt>
                <c:pt idx="2">
                  <c:v>Июль</c:v>
                </c:pt>
                <c:pt idx="3">
                  <c:v>Октябрь</c:v>
                </c:pt>
              </c:strCache>
            </c:strRef>
          </c:cat>
          <c:val>
            <c:numRef>
              <c:f>'Chart Data'!$D$2:$D$5</c:f>
              <c:numCache>
                <c:formatCode>#,##0</c:formatCode>
                <c:ptCount val="4"/>
                <c:pt idx="0">
                  <c:v>7081.1669128508</c:v>
                </c:pt>
                <c:pt idx="1">
                  <c:v>790.1759487432</c:v>
                </c:pt>
                <c:pt idx="2">
                  <c:v>990.0938735178</c:v>
                </c:pt>
                <c:pt idx="3">
                  <c:v>1609.3280710409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MAE h1, руб.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DejaVu Sans"/>
              <a:ea typeface="DejaVu Sans"/>
              <a:cs typeface="DejaVu Sans"/>
            </a:defRPr>
          </a:pPr>
        </a:p>
      </c:txPr>
    </c:legend>
    <c:plotVisOnly val="1"/>
  </c:chart>
  <c:externalData xmlns:r="http://schemas.openxmlformats.org/officeDocument/2006/relationships" r:id="rIdChartSnapshot1">
    <c:autoUpdate val="0"/>
  </c:externalData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CUSUM</c:v>
          </c:tx>
          <c:spPr>
            <a:ln xmlns:a="http://schemas.openxmlformats.org/drawingml/2006/main" w="28575">
              <a:solidFill>
                <a:srgbClr val="00896B"/>
              </a:solidFill>
            </a:ln>
          </c:spPr>
          <c:marker>
            <c:symbol val="circle"/>
            <c:size val="7"/>
          </c:marker>
          <c:cat>
            <c:strRef>
              <c:f>'Chart Data'!$A$2:$A$4</c:f>
              <c:strCache>
                <c:ptCount val="3"/>
                <c:pt idx="0">
                  <c:v>phi = 0</c:v>
                </c:pt>
                <c:pt idx="1">
                  <c:v>phi = 0,3</c:v>
                </c:pt>
                <c:pt idx="2">
                  <c:v>phi = 0,6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0.2</c:v>
                </c:pt>
                <c:pt idx="1">
                  <c:v>3.2</c:v>
                </c:pt>
                <c:pt idx="2">
                  <c:v>24.6</c:v>
                </c:pt>
              </c:numCache>
            </c:numRef>
          </c:val>
          <c:smooth val="0"/>
        </c:ser>
        <c:ser>
          <c:idx val="1"/>
          <c:order val="1"/>
          <c:tx>
            <c:v>Page-Hinkley</c:v>
          </c:tx>
          <c:spPr>
            <a:ln xmlns:a="http://schemas.openxmlformats.org/drawingml/2006/main" w="28575">
              <a:solidFill>
                <a:srgbClr val="708AC1"/>
              </a:solidFill>
            </a:ln>
          </c:spPr>
          <c:marker>
            <c:symbol val="circle"/>
            <c:size val="7"/>
          </c:marker>
          <c:cat>
            <c:strRef>
              <c:f>'Chart Data'!$C$2:$C$4</c:f>
              <c:strCache>
                <c:ptCount val="3"/>
                <c:pt idx="0">
                  <c:v>phi = 0</c:v>
                </c:pt>
                <c:pt idx="1">
                  <c:v>phi = 0,3</c:v>
                </c:pt>
                <c:pt idx="2">
                  <c:v>phi = 0,6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0.6</c:v>
                </c:pt>
                <c:pt idx="1">
                  <c:v>7.6</c:v>
                </c:pt>
                <c:pt idx="2">
                  <c:v>28.8</c:v>
                </c:pt>
              </c:numCache>
            </c:numRef>
          </c:val>
          <c:smooth val="0"/>
        </c:ser>
        <c:ser>
          <c:idx val="2"/>
          <c:order val="2"/>
          <c:tx>
            <c:v>EWMA</c:v>
          </c:tx>
          <c:spPr>
            <a:ln xmlns:a="http://schemas.openxmlformats.org/drawingml/2006/main" w="28575">
              <a:solidFill>
                <a:srgbClr val="CC944F"/>
              </a:solidFill>
            </a:ln>
          </c:spPr>
          <c:marker>
            <c:symbol val="circle"/>
            <c:size val="7"/>
          </c:marker>
          <c:cat>
            <c:strRef>
              <c:f>'Chart Data'!$E$2:$E$4</c:f>
              <c:strCache>
                <c:ptCount val="3"/>
                <c:pt idx="0">
                  <c:v>phi = 0</c:v>
                </c:pt>
                <c:pt idx="1">
                  <c:v>phi = 0,3</c:v>
                </c:pt>
                <c:pt idx="2">
                  <c:v>phi = 0,6</c:v>
                </c:pt>
              </c:strCache>
            </c:strRef>
          </c:cat>
          <c:val>
            <c:numRef>
              <c:f>'Chart Data'!$F$2:$F$4</c:f>
              <c:numCache>
                <c:formatCode>0.0</c:formatCode>
                <c:ptCount val="3"/>
                <c:pt idx="0">
                  <c:v>0.4</c:v>
                </c:pt>
                <c:pt idx="1">
                  <c:v>5.4</c:v>
                </c:pt>
                <c:pt idx="2">
                  <c:v>21</c:v>
                </c:pt>
              </c:numCache>
            </c:numRef>
          </c:val>
          <c:smooth val="0"/>
        </c:ser>
        <c:ser>
          <c:idx val="3"/>
          <c:order val="3"/>
          <c:tx>
            <c:v>Shewhart</c:v>
          </c:tx>
          <c:spPr>
            <a:ln xmlns:a="http://schemas.openxmlformats.org/drawingml/2006/main" w="28575">
              <a:solidFill>
                <a:srgbClr val="A169A2"/>
              </a:solidFill>
            </a:ln>
          </c:spPr>
          <c:marker>
            <c:symbol val="circle"/>
            <c:size val="7"/>
          </c:marker>
          <c:cat>
            <c:strRef>
              <c:f>'Chart Data'!$G$2:$G$4</c:f>
              <c:strCache>
                <c:ptCount val="3"/>
                <c:pt idx="0">
                  <c:v>phi = 0</c:v>
                </c:pt>
                <c:pt idx="1">
                  <c:v>phi = 0,3</c:v>
                </c:pt>
                <c:pt idx="2">
                  <c:v>phi = 0,6</c:v>
                </c:pt>
              </c:strCache>
            </c:strRef>
          </c:cat>
          <c:val>
            <c:numRef>
              <c:f>'Chart Data'!$H$2:$H$4</c:f>
              <c:numCache>
                <c:formatCode>0.0</c:formatCode>
                <c:ptCount val="3"/>
                <c:pt idx="0">
                  <c:v>3.2</c:v>
                </c:pt>
                <c:pt idx="1">
                  <c:v>3</c:v>
                </c:pt>
                <c:pt idx="2">
                  <c:v>2.2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Ряды с тревогой за 48 месяцев,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DejaVu Sans"/>
              <a:ea typeface="DejaVu Sans"/>
              <a:cs typeface="DejaVu Sans"/>
            </a:defRPr>
          </a:pPr>
        </a:p>
      </c:txPr>
    </c:legend>
    <c:plotVisOnly val="1"/>
  </c:chart>
  <c:externalData xmlns:r="http://schemas.openxmlformats.org/officeDocument/2006/relationships"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06E55-F497-4C27-87A9-E206B6FE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СберИндекс: прогноз расходов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A6978-6CEE-4898-B024-E765EC0B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СберИндекс   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05.10.2026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94E11-7446-4CAE-B9EF-D4712FEF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0896B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00896B"/>
                </a:solidFill>
                <a:latin typeface="DejaVu Sans"/>
                <a:ea typeface="DejaVu Sans"/>
                <a:cs typeface="DejaVu Sans"/>
              </a:rPr>
              <a:t>Прогнозирование и сигналы изменений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FB048-51CD-42EE-BCC1-3E039E04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История 2023–2024. Девять прогнозных конфигураций.</a:t>
            </a:r>
          </a:p>
          <a:p xmlns:a="http://schemas.openxmlformats.org/drawingml/2006/main">
            <a:pPr>
              <a:buNone/>
              <a:defRPr sz="2400" b="0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Горизонты 1, 3, 6 и 12 месяцев.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4A5A1-EC07-4EA2-B891-BFCB453F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rPr>
              <a:t>Результаты ретроспективные. Независимый будущий тест ожидает новых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9902604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ADD20-2BA9-4789-B937-3CFD9C33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Данные и протокол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13699-BC46-46BF-A353-9089977B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СберИндекс   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05.10.2026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    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7877175"/>
              </a:tblGrid>
              <a:tr h="6318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Характеристика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Объём и статус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Расходы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Средние номинальные месячные безналичные расходы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История и отбор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2023–2024, 2 075 территорий с полным 2023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Тестовые цели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2 032 территории, 575 пропусков 2024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Origins / горизонты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2023-12, 2024-03/06/09, 1/3/6/12 месяцев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География и публикации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Идентификаторы источника, названия и release dates неизвестны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8C992-5B41-4110-9610-EB78EDD4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rPr>
              <a:t>Модель уже выбиралась по результатам 2024. Этот период остаётся просмотренным тестом.</a:t>
            </a:r>
          </a:p>
        </p:txBody>
      </p:sp>
    </p:spTree>
    <p:extLst>
      <p:ext uri="{BB962C8B-B14F-4D97-AF65-F5344CB8AC3E}">
        <p14:creationId xmlns:p14="http://schemas.microsoft.com/office/powerpoint/2010/main" val="470170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67E2A-9253-4078-88B7-5EA565C8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MAE по горизонту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1A83E-268A-473E-A991-1BD8C645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СберИндекс   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05.10.2026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    3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42950" y="1504950"/>
          <a:ext xmlns:a="http://schemas.openxmlformats.org/drawingml/2006/main" cx="10572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e1231dbe0e40e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08AAD-44A8-4998-950E-535D81D5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rPr>
              <a:t>Равный вес доступных тестовых пар. На 12 месяцах доступен один origin.</a:t>
            </a:r>
          </a:p>
        </p:txBody>
      </p:sp>
    </p:spTree>
    <p:extLst>
      <p:ext uri="{BB962C8B-B14F-4D97-AF65-F5344CB8AC3E}">
        <p14:creationId xmlns:p14="http://schemas.microsoft.com/office/powerpoint/2010/main" val="3778516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47D56-E3D4-42E6-9318-E942E083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Сравнение всех девяти конфигураций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AE9CB-2236-4543-B2E1-8D7AD72D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СберИндекс   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05.10.2026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    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5732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1762125"/>
                <a:gridCol w="1762125"/>
                <a:gridCol w="1762125"/>
                <a:gridCol w="1781175"/>
              </a:tblGrid>
              <a:tr h="400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Модель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MAE h1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MAE h3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MAE h6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MAE h12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Prophet (5 точек)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1 884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2 262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2 758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2 904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Prophet default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1 884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2 262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2 758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2 906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Prophet сезонный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3 452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3 719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4 574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8 330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Последнее значение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2 620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2 859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2 962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4 701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Прошлый год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4 016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4 257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4 416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4 701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Затухающий тренд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2 744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3 736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3 234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1 734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Ridge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4 717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6 616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6 399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10 923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Ridge + новости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5 328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16 827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39 339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20 597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Chronos-Bolt Tiny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2 654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3 350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4 728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10 743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42A74-ADBC-4AE6-A80E-D076704A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rPr>
              <a:t>Chronos-Bolt вышел 26.11.2024, позже всех origins. Современный ретроспективный benchmark.</a:t>
            </a:r>
          </a:p>
        </p:txBody>
      </p:sp>
    </p:spTree>
    <p:extLst>
      <p:ext uri="{BB962C8B-B14F-4D97-AF65-F5344CB8AC3E}">
        <p14:creationId xmlns:p14="http://schemas.microsoft.com/office/powerpoint/2010/main" val="21397485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9E6EC-CE59-479F-B39C-D58B79DE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Агрегация и динамика внутри территории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4E259-3527-4610-91DD-C93CD6FA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СберИндекс   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05.10.2026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    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"/>
                <a:gridCol w="1695450"/>
                <a:gridCol w="2286000"/>
                <a:gridCol w="1666875"/>
                <a:gridCol w="2000250"/>
                <a:gridCol w="2800350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MAE пар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MAE территорий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WAPE, %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MASE lag1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Within R²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1 884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1 888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6,36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1,179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2 262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2 268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7,05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1,472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0,131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2 758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2 762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8,46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1,766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-0,013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2 904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2 904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7,86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2,017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не определён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64657-1E45-4B27-8456-9BF03304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rPr>
              <a:t>Pooled R² 0,92–0,94 во многом отражает различия уровней. MASE использует только масштаб 2023.</a:t>
            </a:r>
          </a:p>
        </p:txBody>
      </p:sp>
    </p:spTree>
    <p:extLst>
      <p:ext uri="{BB962C8B-B14F-4D97-AF65-F5344CB8AC3E}">
        <p14:creationId xmlns:p14="http://schemas.microsoft.com/office/powerpoint/2010/main" val="13055675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80539-2B5A-40F9-B574-8FDB6A44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Превосходство зависит от даты прогноза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025EC-29E9-45FB-B290-46D70A12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СберИндекс   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05.10.2026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    6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42950" y="1504950"/>
          <a:ext xmlns:a="http://schemas.openxmlformats.org/drawingml/2006/main" cx="10572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5b7d3c01e3417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A7CDC-56A9-4A18-96B2-9640BE74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rPr>
              <a:t>Prophet хуже последнего значения в апреле и июле. Общая MAE скрывает различия периодов.</a:t>
            </a:r>
          </a:p>
        </p:txBody>
      </p:sp>
    </p:spTree>
    <p:extLst>
      <p:ext uri="{BB962C8B-B14F-4D97-AF65-F5344CB8AC3E}">
        <p14:creationId xmlns:p14="http://schemas.microsoft.com/office/powerpoint/2010/main" val="8570716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2E8D6-863D-4EF2-98E9-B1836C96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Условная неопределённость различий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A7C0A-59A6-4DEA-8C05-4F06923C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СберИндекс   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05.10.2026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    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33525"/>
          <a:ext xmlns:a="http://schemas.openxmlformats.org/drawingml/2006/main" cx="109728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"/>
                <a:gridCol w="3781425"/>
                <a:gridCol w="2047875"/>
                <a:gridCol w="4619625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Prophet минус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Δ MAE, руб.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Условный 95% интервал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Последнее значение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-735,58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-1 926,1 .. 140,3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Prophet default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0,03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-0,5 .. 0,5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Последнее значение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-596,93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-2 103,9 .. 514,7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Prophet default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-0,31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-1,1 .. 0,5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Последнее значение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-204,46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-1 695,1 .. 652,3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Prophet default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-0,45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-1,9 .. 1,0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6E782-829E-4F4C-8C06-53ACD1CC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rPr>
              <a:t>Bootstrap по территориям и origins, 2 000 повторов. 3–4 временных кластера ограничивают выводы.</a:t>
            </a:r>
          </a:p>
        </p:txBody>
      </p:sp>
    </p:spTree>
    <p:extLst>
      <p:ext uri="{BB962C8B-B14F-4D97-AF65-F5344CB8AC3E}">
        <p14:creationId xmlns:p14="http://schemas.microsoft.com/office/powerpoint/2010/main" val="19708252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402D2-B8D4-4C58-B9C4-7D56F1D4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Последовательные детекторы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EF36F-658E-4A4B-8128-F6E21374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СберИндекс   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05.10.2026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    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095500"/>
                <a:gridCol w="2809875"/>
                <a:gridCol w="3495675"/>
              </a:tblGrid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Метод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Null 12 мес., %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95% Wilson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Реальные кандидаты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5,4 .. 10,0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Page-Hinkley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6,8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4,9 .. 9,4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43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EWMA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5,4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3,7 .. 7,7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Shewhart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4,6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3,1 .. 6,8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035CF-BDE7-4415-ABCB-C47FB719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rPr>
              <a:t>NaN пропускает обновление состояния. PH reference_count=12. 108 сигналов в 54 территориях. Реальная точность неизвестна.</a:t>
            </a:r>
          </a:p>
        </p:txBody>
      </p:sp>
    </p:spTree>
    <p:extLst>
      <p:ext uri="{BB962C8B-B14F-4D97-AF65-F5344CB8AC3E}">
        <p14:creationId xmlns:p14="http://schemas.microsoft.com/office/powerpoint/2010/main" val="11295127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4FE56-A94A-42D5-868D-A69BE454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Автокорреляция повышает ложные тревоги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859D6-3BD9-4ECD-B77B-34D105D5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СберИндекс   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05.10.2026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    9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42950" y="1504950"/>
          <a:ext xmlns:a="http://schemas.openxmlformats.org/drawingml/2006/main" cx="10572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fed8eba948461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D73A2-047D-49DF-9B46-6ECA270D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rPr>
              <a:t>500 рядов на сценарий. Полная сетка проверяет величину сдвига, пропуски, сезонность, выбросы и пороги.</a:t>
            </a:r>
          </a:p>
        </p:txBody>
      </p:sp>
    </p:spTree>
    <p:extLst>
      <p:ext uri="{BB962C8B-B14F-4D97-AF65-F5344CB8AC3E}">
        <p14:creationId xmlns:p14="http://schemas.microsoft.com/office/powerpoint/2010/main" val="15285513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5F8E6-44B3-462E-B09A-DD06CEA2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Раннее предупреждение и направление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B2B36-799B-4B30-A9CA-5022D1E9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СберИндекс   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05.10.2026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    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1666875"/>
                <a:gridCol w="2857500"/>
                <a:gridCol w="2190750"/>
                <a:gridCol w="2209800"/>
              </a:tblGrid>
              <a:tr h="6381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Порог proxy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Событий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Precision Prophet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6596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1372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0,395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0,620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0,483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0,480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D9D1B-0939-4CF1-9107-67D131B4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10896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Proxy: два из трёх будущих месяцев отклоняются от прошлого года в одном направлении. Неверное направление даёт FP и FN.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26859-B00F-4EB8-8C90-36D5B1A2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rPr>
              <a:t>Макрофлаг без направления исключён. Независимых меток экономических шоков пока нет.</a:t>
            </a:r>
          </a:p>
        </p:txBody>
      </p:sp>
    </p:spTree>
    <p:extLst>
      <p:ext uri="{BB962C8B-B14F-4D97-AF65-F5344CB8AC3E}">
        <p14:creationId xmlns:p14="http://schemas.microsoft.com/office/powerpoint/2010/main" val="6485794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55DCA-5062-40C2-B4FF-32D91DB5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Новости меняют поведение детекторов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C2CB6-38CD-47BF-9C39-9EE0B171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СберИндекс   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05.10.2026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    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2933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19550"/>
                <a:gridCol w="3476625"/>
                <a:gridCol w="3476625"/>
              </a:tblGrid>
              <a:tr h="58674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Метод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Без новостей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 новостями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Page-Hinkley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43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EWMA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Shewhart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1759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C3E36-DBB3-4D8C-942A-24D05996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896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17 макропубликаций, четыре признака. Парная абляция использует одинаковые пороги и правила обновления.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053B9-875A-4A9F-A6A3-BD28D4E3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rPr>
              <a:t>Это количество кандидатов. Улучшение реальной точности не доказано. Все 17 текущих HTML-хешей совпали.</a:t>
            </a:r>
          </a:p>
        </p:txBody>
      </p:sp>
    </p:spTree>
    <p:extLst>
      <p:ext uri="{BB962C8B-B14F-4D97-AF65-F5344CB8AC3E}">
        <p14:creationId xmlns:p14="http://schemas.microsoft.com/office/powerpoint/2010/main" val="1417202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34750-C033-4DB6-B841-340EC54B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Необычность зависит от базового прогноза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618EF-8D2E-41D9-B038-3E426CB4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СберИндекс   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05.10.2026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    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714500"/>
                <a:gridCol w="2000250"/>
                <a:gridCol w="2400300"/>
                <a:gridCol w="190500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Территория и месяц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Факт, руб.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Δ к Ridge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Δ к последнему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Δ к Prophet</a:t>
                      </a:r>
                    </a:p>
                  </a:txBody>
                  <a:tcPr marL="91440" marR="91440" marT="45720" marB="45720">
                    <a:solidFill>
                      <a:srgbClr val="E5EFE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322, 2024-06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51 459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63,66%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27,46%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21,51%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319, 2024-07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53 994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41,95%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15,40%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C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29,12%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28671-1BF8-4238-870F-B23E2222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52925"/>
            <a:ext cx="10896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Даты сигналов на графиках отчёта относятся к наблюдениям. Экономическое начало и публикация расхода неизвестны.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F2759-604B-4652-96FF-D1A5653F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rPr>
              <a:t>Реальные примеры являются кандидатами для анализа. Прогнозные интервалы отсутствуют.</a:t>
            </a:r>
          </a:p>
        </p:txBody>
      </p:sp>
    </p:spTree>
    <p:extLst>
      <p:ext uri="{BB962C8B-B14F-4D97-AF65-F5344CB8AC3E}">
        <p14:creationId xmlns:p14="http://schemas.microsoft.com/office/powerpoint/2010/main" val="14909119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FEBAD-5B48-4552-AA74-F09A301F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Архитектура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2D6C0-E21A-41A7-B924-D90A897E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СберИндекс   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05.10.2026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7F072-FEEA-4EA0-847D-035A971A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1. История до origin → заполнение прошлым значением. Разбиения по датам, общие тестовые цели.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E72CF-9C67-49DB-93F5-28A44C37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9825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2. Prophet: кусочно-линейный тренд + штраф за смену наклона. Отдельная модель на территорию.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99D79-A6B9-48CD-9475-8E0A3AF4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43275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3. Остатки Ridge → CUSUM, Page–Hinkley, EWMA, Shewhart. Это обнаружение начавшегося изменения.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07034-1FB5-47E2-A985-C304EB05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76725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4. Прогнозная траектория → ранний proxy-сигнал. Реальные шоки требуют независимой разметки.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4A286-3315-4BB9-AE0E-33E2B675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rPr>
              <a:t>В prophet_auto на этой короткой истории годовая сезонность выключена; новостных признаков нет.</a:t>
            </a:r>
          </a:p>
        </p:txBody>
      </p:sp>
    </p:spTree>
    <p:extLst>
      <p:ext uri="{BB962C8B-B14F-4D97-AF65-F5344CB8AC3E}">
        <p14:creationId xmlns:p14="http://schemas.microsoft.com/office/powerpoint/2010/main" val="14049559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444FC-889D-4432-B62E-96358963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Воспроизведение и границы выводов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D67FF-E9BD-4AFA-B583-B66AF438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СберИндекс   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05.10.2026</a:t>
            </a:r>
            <a:r>
              <a:rPr sz="1200" b="0">
                <a:solidFill>
                  <a:srgbClr val="67808B"/>
                </a:solidFill>
                <a:latin typeface="DejaVu Sans"/>
                <a:ea typeface="DejaVu Sans"/>
                <a:cs typeface="DejaVu Sans"/>
              </a:rPr>
              <a:t>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CEDBE-DCA3-49B7-9B57-EF9F4B47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C972C-4EFF-48CA-8ADA-24975E53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9825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asof.py выбирает последнюю публикацию пересмотра. Регрессионные проверки включены в комплект.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C7D2A-C902-43D0-943F-B94DCFDC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43275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>Для независимого теста нужны новые месяцы, release/vintage и внешний журнал выдачи прогнозов.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F870C-2A2D-4EE2-A387-679DB662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76725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3C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3C4B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55BE9-CFC5-44D2-BAF8-3708607E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717E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476113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Сенюшин Дмитрий Иванович</dc:creator>
  <lastModifiedBy>Walnut Exporter</lastModifiedBy>
  <dc:title>Presentation</dc:title>
  <dcterms:created xsi:type="dcterms:W3CDTF">2026-10-05T20:45:26.7710000Z</dcterms:created>
  <dcterms:modified xsi:type="dcterms:W3CDTF">2026-10-05T20:45:26.7710000Z</dcterms:modified>
</coreProperties>
</file>